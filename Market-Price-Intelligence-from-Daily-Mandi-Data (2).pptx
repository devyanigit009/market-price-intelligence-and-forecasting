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Andika"/>
      <p:regular r:id="rId201314"/>
    </p:embeddedFont>
    <p:embeddedFont>
      <p:font typeface="Andika Bold"/>
      <p:regular r:id="rId201315"/>
    </p:embeddedFont>
    <p:embeddedFont>
      <p:font typeface="Baloo 2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18212" cy="6858000"/>
          </a:xfrm>
          <a:prstGeom prst="rect">
            <a:avLst/>
          </a:prstGeom>
          <a:solidFill>
            <a:srgbClr val="F7FBF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680250"/>
            <a:ext cx="690862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18" kern="100" dirty="0">
                <a:solidFill>
                  <a:srgbClr val="000000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BUSINESS INTELLIGENCE PROJECT · 2026–2027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2069108"/>
            <a:ext cx="629904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Market Price </a:t>
            </a:r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Intelligence</a:t>
            </a:r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 from Daily Mandi Data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3466108"/>
            <a:ext cx="6299042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Cleaning, warehousing and analyzing Indian agricultural market prices for Business Intelligence.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9585" y="4942483"/>
            <a:ext cx="69086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18" kern="100" dirty="0">
                <a:solidFill>
                  <a:srgbClr val="00000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Department of CSE (Data Science)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670543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A detailed feed was difficult to compare across markets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855986"/>
            <a:ext cx="6705432" cy="3753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AGMARKNET reports minimum, maximum and modal wholesale prices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for each market and commodity.</a:t>
            </a:r>
            <a:endParaRPr lang="en-US" sz="21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Raw headers carried encoding artifacts, text fields contained stray spaces, and the source published only the current day.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project goal: turn a hard-to-query feed into a structured source for market, commodity and state comparisons.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The snapshot covered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7,181 records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 across 20 states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426468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18" kern="100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snapshot is broad in entities but narrow in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585" y="1993205"/>
            <a:ext cx="7467413" cy="4517926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27" y="2304355"/>
            <a:ext cx="6603835" cy="266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691" y="2251968"/>
            <a:ext cx="3200419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Entity coverage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81691" y="2879030"/>
            <a:ext cx="3200419" cy="2063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420 markets · 160 districts · 149 commodities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218 varieties · 12 grade labels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381691" y="5163344"/>
            <a:ext cx="32004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18" kern="100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All records share one arrival date: 28 July 2026. Prices are reported in rupees per quintal.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670543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Cleaning created a reliable analytical base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855986"/>
            <a:ext cx="6705432" cy="33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26720" indent="-42672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Rename encoded price columns and standardize text fields.</a:t>
            </a:r>
            <a:endParaRPr lang="en-US" sz="2100" dirty="0"/>
          </a:p>
          <a:p>
            <a:pPr algn="l" marL="426720" indent="-42672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Convert arrival dates and prices to usable types.</a:t>
            </a:r>
            <a:endParaRPr lang="en-US" sz="2100" dirty="0"/>
          </a:p>
          <a:p>
            <a:pPr algn="l" marL="426720" indent="-42672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Derive price spread and spread percentage.</a:t>
            </a:r>
            <a:endParaRPr lang="en-US" sz="2100" dirty="0"/>
          </a:p>
          <a:p>
            <a:pPr algn="l" marL="426720" indent="-42672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Validate missing values, duplicates, price order and negative prices.</a:t>
            </a:r>
            <a:endParaRPr lang="en-US" sz="2100" dirty="0"/>
          </a:p>
          <a:p>
            <a:pPr algn="l" marL="426720" indent="-42672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Load the cleaned 15-column file without removing records.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394" y="0"/>
            <a:ext cx="3962301" cy="3931940"/>
          </a:xfrm>
          <a:prstGeom prst="rect">
            <a:avLst/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40536" y="349250"/>
            <a:ext cx="3340016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Validation passed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40536" y="1048067"/>
            <a:ext cx="3340016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Every validation check passed: 0 missing values, 0 duplicates and 0 invalid price-order rows.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4236641"/>
            <a:ext cx="3962301" cy="2621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The star schema made the feed easy to query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418848"/>
            <a:ext cx="11582110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warehouse separates measurable prices from descriptive context.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585" y="2080816"/>
            <a:ext cx="4267093" cy="3753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One fact table, fact_market_price, stores min, max, modal, spread and spread percentage.</a:t>
            </a:r>
            <a:endParaRPr lang="en-US" sz="21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Five dimensions describe date, location, commodity, variety and grade.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fact table retained all 7,181 cleaned records.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294" y="2080816"/>
            <a:ext cx="4608794" cy="3555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3246" y="3643967"/>
            <a:ext cx="803063" cy="39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fact_market_price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38203" y="2358112"/>
            <a:ext cx="1227063" cy="1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Date dimension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38203" y="2628351"/>
            <a:ext cx="1227063" cy="16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Descriptive context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259070" y="3486500"/>
            <a:ext cx="1222454" cy="39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Location dimension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259070" y="3956454"/>
            <a:ext cx="1222454" cy="16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Descriptive context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765940" y="4670962"/>
            <a:ext cx="1194802" cy="39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Commodity dimension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65940" y="5140916"/>
            <a:ext cx="1194802" cy="16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Descriptive context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70379" y="4670962"/>
            <a:ext cx="1194802" cy="39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Variety dimension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70379" y="5140916"/>
            <a:ext cx="1194802" cy="16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Descriptive context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68033" y="3495718"/>
            <a:ext cx="1222454" cy="39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Grade dimension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68033" y="3965671"/>
            <a:ext cx="1222454" cy="16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Descriptive context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Seven business questions became one interactive dashboard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55986"/>
            <a:ext cx="3454314" cy="317748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0727" y="2167136"/>
            <a:ext cx="600060" cy="600075"/>
          </a:xfrm>
          <a:prstGeom prst="rect">
            <a:avLst/>
          </a:prstGeom>
          <a:noFill/>
          <a:ln w="25399">
            <a:solidFill>
              <a:srgbClr val="1F2B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074" y="2300486"/>
            <a:ext cx="333367" cy="3333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0727" y="2975174"/>
            <a:ext cx="2832029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Rank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20727" y="3618428"/>
            <a:ext cx="2832029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Commodities, markets and states by average modal price.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368691" y="1855986"/>
            <a:ext cx="3454314" cy="317748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79833" y="2167136"/>
            <a:ext cx="600060" cy="600075"/>
          </a:xfrm>
          <a:prstGeom prst="rect">
            <a:avLst/>
          </a:prstGeom>
          <a:noFill/>
          <a:ln w="25399">
            <a:solidFill>
              <a:srgbClr val="1F2B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80" y="2300486"/>
            <a:ext cx="333367" cy="3333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79833" y="2975174"/>
            <a:ext cx="2832029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Compare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4679833" y="3618428"/>
            <a:ext cx="2832029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Minimum, maximum and modal prices.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8127797" y="1855986"/>
            <a:ext cx="3454314" cy="317748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38939" y="2167136"/>
            <a:ext cx="600060" cy="600075"/>
          </a:xfrm>
          <a:prstGeom prst="rect">
            <a:avLst/>
          </a:prstGeom>
          <a:noFill/>
          <a:ln w="25399">
            <a:solidFill>
              <a:srgbClr val="1F2B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286" y="2300486"/>
            <a:ext cx="333367" cy="3333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38939" y="2975174"/>
            <a:ext cx="2832029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Measure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8438939" y="3618428"/>
            <a:ext cx="2832029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Price spread and compare grades.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609585" y="5338266"/>
            <a:ext cx="10972526" cy="322312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20727" y="5676086"/>
            <a:ext cx="60272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18" kern="100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POWER BI · MYSQL WAREHOUSE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20727" y="6064945"/>
            <a:ext cx="602728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Rs 5,519.21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920727" y="6933307"/>
            <a:ext cx="6027289" cy="131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Average modal price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Rs 672.68</a:t>
            </a:r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 average spread · 149 commodities · 420 markets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7252709" y="6592610"/>
            <a:ext cx="4018259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Power BI connected directly to the MySQL warehouse.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The overall market was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right-skewed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2655"/>
            <a:ext cx="7467413" cy="4845745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27" y="1713805"/>
            <a:ext cx="6603835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691" y="1817092"/>
            <a:ext cx="32004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Mean sits above median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381691" y="2856905"/>
            <a:ext cx="3200419" cy="300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Average modal price: Rs 5,519 per quintal.</a:t>
            </a:r>
            <a:endParaRPr lang="en-US" sz="21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Median modal price: Rs 4,300.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High-value flowers, spices and ghee pull the mean upward.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High-value commodities were led by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marigold and mushrooms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55986"/>
            <a:ext cx="6400640" cy="3676253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27" y="2167136"/>
            <a:ext cx="5714857" cy="254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4918" y="2084586"/>
            <a:ext cx="4267192" cy="321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Among commodities with at least 20 records, marigold averaged Rs 25,889 per quintal; mushrooms averaged Rs 21,633; garlic averaged Rs 19,328; apple averaged Rs 18,227.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Pumpkin, tomato and watermelon were the lowest-priced commodities in this filtered comparison. Filtering by record count prevents one-off reports from dominating the ranking.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Apple carried the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widest price spread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2655"/>
            <a:ext cx="7467413" cy="5480546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27" y="1713805"/>
            <a:ext cx="6845129" cy="3169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691" y="1636018"/>
            <a:ext cx="320041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Rs 4,419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381691" y="2504380"/>
            <a:ext cx="3200419" cy="2810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Apple's average spread, equal to 28.3% of its modal price.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Marigold combined the highest average price with a narrower 6.9% spread.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381691" y="5535414"/>
            <a:ext cx="32004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18" kern="100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 wide one-day spread may reflect quality differences between lots, not only instability.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Market and state averages reflected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reporting mix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66193"/>
            <a:ext cx="10972526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Decision-quality checkpoint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393255"/>
            <a:ext cx="10972526" cy="226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Ramanathapuram (Uzhavar Sandhai) led filtered market averages at Rs 11,743 across 43 records.</a:t>
            </a:r>
            <a:endParaRPr lang="en-US" sz="21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Andaman and Nicobar had the highest state average at Rs 8,786, but from 23 records at one market.</a:t>
            </a:r>
            <a:endParaRPr lang="en-US" sz="2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 market or state average is partly a measure of which commodities were reported.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09585" y="5139630"/>
            <a:ext cx="10972526" cy="3584575"/>
          </a:xfrm>
          <a:prstGeom prst="roundRect">
            <a:avLst>
              <a:gd name="adj" fmla="val 4251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27" y="5450780"/>
            <a:ext cx="5079873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0727" y="8151118"/>
            <a:ext cx="106613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18" kern="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Tamil Nadu supplied 5,754 records, or 80.1% of the snapshot, across 151 markets.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Limitations shape how far the numbers can be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426468"/>
            <a:ext cx="1158211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18" kern="100" dirty="0">
                <a:solidFill>
                  <a:srgbClr val="586A80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Read these caveats before comparing markets, commodities or states.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585" y="1993205"/>
            <a:ext cx="5333867" cy="3209826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0727" y="2342455"/>
            <a:ext cx="4711582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Snapshot &amp; sample depth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20727" y="3041273"/>
            <a:ext cx="4711582" cy="18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One arrival date—28 July 2026—cannot show day-to-day movement. 224 of 420 markets have fewer than 10 records; 45 commodities have three or fewer.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248244" y="1993205"/>
            <a:ext cx="5333867" cy="3209826"/>
          </a:xfrm>
          <a:prstGeom prst="roundRect">
            <a:avLst>
              <a:gd name="adj" fmla="val 4748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9386" y="2342455"/>
            <a:ext cx="4711582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Price-record caveats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59386" y="3041273"/>
            <a:ext cx="4711582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1,635 records have no spread between minimum and maximum price. 16 modal prices below Rs 100 warrant a check before ranking.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097252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1F2B3D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Future scope extends the pipeline </a:t>
            </a:r>
            <a:pPr algn="l" indent="0" marL="0">
              <a:lnSpc>
                <a:spcPct val="88000"/>
              </a:lnSpc>
              <a:buNone/>
            </a:pPr>
            <a:r>
              <a:rPr lang="en-US" sz="3400" b="1" dirty="0">
                <a:solidFill>
                  <a:srgbClr val="E85F0E"/>
                </a:solidFill>
                <a:latin typeface="Baloo 2 Bold" pitchFamily="34" charset="0"/>
                <a:ea typeface="Baloo 2 Bold" pitchFamily="34" charset="-122"/>
                <a:cs typeface="Baloo 2 Bold" pitchFamily="34" charset="-120"/>
              </a:rPr>
              <a:t>beyond one snapshot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2655"/>
            <a:ext cx="3454314" cy="430579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20727" y="1743968"/>
            <a:ext cx="283202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Build a dependable feed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20727" y="2799973"/>
            <a:ext cx="2832029" cy="18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Schedule daily pulls and standardize commodity, variety and grade labels across sources.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68691" y="1402655"/>
            <a:ext cx="3454314" cy="430579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79833" y="1743968"/>
            <a:ext cx="2832029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Make comparisons useful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79833" y="3212723"/>
            <a:ext cx="2832029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Strengthen dashboard filters and state views; track price trends across dates.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127797" y="1402655"/>
            <a:ext cx="3454314" cy="430579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1749">
            <a:solidFill>
              <a:srgbClr val="1F2B3D"/>
            </a:solidFill>
            <a:prstDash val="solid"/>
          </a:ln>
          <a:effectLst>
            <a:outerShdw sx="100000" sy="100000" kx="0" ky="0" algn="bl" rotWithShape="0" blurRad="127" dist="53340" dir="2700000">
              <a:srgbClr val="1f2b3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38939" y="1743968"/>
            <a:ext cx="283202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2B3D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Forecast with context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438939" y="2799973"/>
            <a:ext cx="2832029" cy="2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1F2B3D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After history accumulates, develop time-series forecasts and test weather, demand-supply and transport effects on prices.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2026-10-17T20:07:33Z</dcterms:created>
  <dcterms:modified xsi:type="dcterms:W3CDTF">2026-10-17T20:07:33Z</dcterms:modified>
</cp:coreProperties>
</file>